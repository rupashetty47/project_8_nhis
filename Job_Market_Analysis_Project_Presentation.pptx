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2"/>
    <p:sldId id="256" r:id="rId3"/>
    <p:sldId id="257" r:id="rId4"/>
    <p:sldId id="258" r:id="rId5"/>
    <p:sldId id="259" r:id="rId6"/>
    <p:sldId id="261" r:id="rId7"/>
    <p:sldId id="262" r:id="rId8"/>
    <p:sldId id="263" r:id="rId9"/>
    <p:sldId id="275" r:id="rId10"/>
    <p:sldId id="276" r:id="rId11"/>
    <p:sldId id="277" r:id="rId12"/>
    <p:sldId id="264" r:id="rId13"/>
    <p:sldId id="265" r:id="rId14"/>
    <p:sldId id="266" r:id="rId15"/>
    <p:sldId id="267" r:id="rId16"/>
    <p:sldId id="268" r:id="rId17"/>
    <p:sldId id="269" r:id="rId18"/>
    <p:sldId id="278" r:id="rId19"/>
    <p:sldId id="279" r:id="rId20"/>
    <p:sldId id="271" r:id="rId21"/>
    <p:sldId id="272" r:id="rId22"/>
    <p:sldId id="28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D9FFC-8D7D-6DC2-EA39-FB790E9A1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Presented by Rupa Shetty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B489E-A614-369E-50E9-E943636C0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NextHikes</a:t>
            </a:r>
            <a:r>
              <a:rPr lang="en-US" sz="4000" dirty="0"/>
              <a:t> IT Solutions Project_7</a:t>
            </a:r>
          </a:p>
        </p:txBody>
      </p:sp>
    </p:spTree>
    <p:extLst>
      <p:ext uri="{BB962C8B-B14F-4D97-AF65-F5344CB8AC3E}">
        <p14:creationId xmlns:p14="http://schemas.microsoft.com/office/powerpoint/2010/main" val="165436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051560"/>
            <a:ext cx="7315200" cy="3657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500" b="1">
                <a:solidFill>
                  <a:srgbClr val="7DDAD2"/>
                </a:solidFill>
                <a:latin typeface="Aptos"/>
              </a:rPr>
              <a:t>DATA SCIENCE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7498079" cy="1371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"/>
              </a:rPr>
              <a:t>Job Market
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6766560" cy="9144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2000" b="0">
                <a:solidFill>
                  <a:srgbClr val="E1E8F2"/>
                </a:solidFill>
                <a:latin typeface="Aptos"/>
              </a:rPr>
              <a:t>Exploring freelance job demand, hourly rates, market trends and similar-job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Python • Pandas • Scikit-learn • Streamlit • Render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2286000" cy="2286000"/>
          </a:xfrm>
          <a:prstGeom prst="roundRect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92640" y="2743200"/>
            <a:ext cx="1645920" cy="1645920"/>
          </a:xfrm>
          <a:prstGeom prst="round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63840" y="4297680"/>
            <a:ext cx="2011680" cy="1188720"/>
          </a:xfrm>
          <a:prstGeom prst="roundRect">
            <a:avLst/>
          </a:prstGeom>
          <a:solidFill>
            <a:srgbClr val="EB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45720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000" b="0">
                <a:solidFill>
                  <a:srgbClr val="B4C2D6"/>
                </a:solidFill>
                <a:latin typeface="Aptos"/>
              </a:rPr>
              <a:t>Prepared for project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2700" b="1">
                <a:solidFill>
                  <a:srgbClr val="182A4B"/>
                </a:solidFill>
                <a:latin typeface="Aptos"/>
              </a:rPr>
              <a:t>1. Project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Freelancers need to understand which types of work are being posted and how opportunities change over time.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Hourly-rate ranges can help compare opportunities when listings contain valid rate information.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This project transforms raw job listings into charts, summaries and an interactive dashboard.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Analysis describes this dataset; it should not be interpreted as a complete picture of the entire freelance market.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2700" b="1">
                <a:solidFill>
                  <a:srgbClr val="182A4B"/>
                </a:solidFill>
                <a:latin typeface="Aptos"/>
              </a:rPr>
              <a:t>2.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100" b="0">
                <a:solidFill>
                  <a:srgbClr val="5F6C7D"/>
                </a:solidFill>
                <a:latin typeface="Aptos"/>
              </a:rPr>
              <a:t>Inputs, analysis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Input: an Upwork job-posting CSV containing titles, links, dates, hourly/rate fields, budget and country.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Preparation: inspect columns, clean text, parse dates, check missing values and duplicates.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Analysis: category counts, hourly-rate comparisons, country/month trends and posting-volume forecasting.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Output: a Streamlit dashboard plus a TF-IDF/cosine-similarity job recommender.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2700" b="1">
                <a:solidFill>
                  <a:srgbClr val="182A4B"/>
                </a:solidFill>
                <a:latin typeface="Aptos"/>
              </a:rPr>
              <a:t>3. Business Problem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100" b="0">
                <a:solidFill>
                  <a:srgbClr val="5F6C7D"/>
                </a:solidFill>
                <a:latin typeface="Aptos"/>
              </a:rPr>
              <a:t>Questions the project aims to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Problem: raw job postings are difficult to compare because information is spread across many records and fields.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Objective 1: clean the data and make analysis repeatable.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Objective 2: identify common job-title themes and compare valid hourly rates.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Objective 3: explore posting volume over time and test a simple forecast baseline.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Objective 4: recommend similar listings from a text query and share the results through a web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9859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lang="en-US" sz="2700" b="1" dirty="0">
                <a:solidFill>
                  <a:srgbClr val="182A4B"/>
                </a:solidFill>
                <a:latin typeface="Aptos"/>
              </a:rPr>
              <a:t>4</a:t>
            </a:r>
            <a:r>
              <a:rPr sz="2700" b="1" dirty="0">
                <a:solidFill>
                  <a:srgbClr val="182A4B"/>
                </a:solidFill>
                <a:latin typeface="Aptos"/>
              </a:rPr>
              <a:t>. End-to-End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100" b="0">
                <a:solidFill>
                  <a:srgbClr val="5F6C7D"/>
                </a:solidFill>
                <a:latin typeface="Aptos"/>
              </a:rPr>
              <a:t>A reproducible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1. Load the CSV and inspect its shape, columns, types and sample rows.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2. Clean missing values, duplicates, text fields and invalid dates.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3. Engineer useful fields, including hourly midpoint and calendar periods.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4. Explore category, rate, country and time distributions.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5. Forecast weekly posting counts using a simple baseline and time-based evaluation.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6. Recommend similar listings with TF-IDF and cosine similarity.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7. Build the Streamlit app and deploy it on Render.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9859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lang="en-US" sz="2700" b="1" dirty="0">
                <a:solidFill>
                  <a:srgbClr val="182A4B"/>
                </a:solidFill>
                <a:latin typeface="Aptos"/>
              </a:rPr>
              <a:t>5</a:t>
            </a:r>
            <a:r>
              <a:rPr sz="2700" b="1" dirty="0">
                <a:solidFill>
                  <a:srgbClr val="182A4B"/>
                </a:solidFill>
                <a:latin typeface="Aptos"/>
              </a:rPr>
              <a:t>. Data Cleaning and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100" b="0">
                <a:solidFill>
                  <a:srgbClr val="5F6C7D"/>
                </a:solidFill>
                <a:latin typeface="Aptos"/>
              </a:rPr>
              <a:t>Quality checks before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Inspect missing values, duplicate rows and inconsistent column names.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Convert published_date to datetime and count invalid dates.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Standardize title text by trimming spaces and normalizing case.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Convert rate bounds to numeric values and reject invalid or negative rates.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Calculate midpoint = (hourly_low + hourly_high) / 2 only when both bounds are valid.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Keep fixed-price budget separate from hourly rates; document every cleaning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2700" b="1">
                <a:solidFill>
                  <a:srgbClr val="182A4B"/>
                </a:solidFill>
                <a:latin typeface="Aptos"/>
              </a:rPr>
              <a:t>7. Exploratory Data Analysis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100" b="0">
                <a:solidFill>
                  <a:srgbClr val="5F6C7D"/>
                </a:solidFill>
                <a:latin typeface="Aptos"/>
              </a:rPr>
              <a:t>What to inspect and visualize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Univariate: missingness, title counts, country counts and distributions of rates/budget.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Bivariate: category vs rate, country vs posting count, month vs posting volume.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Multivariate: explore how category, date, country and payment type vary together.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Use bar charts for counts, histograms for distributions, box plots for spread and line charts for time trends.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Use medians and quartiles for skewed rate data and show sample sizes with comparisons.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DDCCF8-178A-FAC5-0976-70D9B60E2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3592285"/>
            <a:ext cx="8229600" cy="27466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0EA5E8-B0F0-02F4-6177-2D07C5E9F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914" y="274638"/>
            <a:ext cx="5909919" cy="31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7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D199E0-7723-AEB5-ACE3-FE0976C21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3286335"/>
            <a:ext cx="8229600" cy="3243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93338D-F6C1-F57A-A93B-66E903909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320" y="405890"/>
            <a:ext cx="7917360" cy="270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036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0D2CFE-BAFE-1098-B06F-9C618C344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9" y="1533427"/>
            <a:ext cx="10344682" cy="379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97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2700" b="1">
                <a:solidFill>
                  <a:srgbClr val="182A4B"/>
                </a:solidFill>
                <a:latin typeface="Aptos"/>
              </a:rPr>
              <a:t>8. Job Titles, Skills and Hourly-Rate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100" b="0">
                <a:solidFill>
                  <a:srgbClr val="5F6C7D"/>
                </a:solidFill>
                <a:latin typeface="Aptos"/>
              </a:rPr>
              <a:t>Compare like with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Extract frequent words from titles; use descriptions too if the dataset contains them.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Group related titles with transparent keyword rules such as data, design, writing or development.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Treat these groups as approximations: keyword matching can misclassify ambiguous titles.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Compare hourly rates only for listings with valid hourly bounds; report median, quartiles and sample count.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Avoid strong conclusions for categories with few listings or inconsistent rate information.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2700" b="1">
                <a:solidFill>
                  <a:srgbClr val="182A4B"/>
                </a:solidFill>
                <a:latin typeface="Aptos"/>
              </a:rPr>
              <a:t>9. Emerging Job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100" b="0">
                <a:solidFill>
                  <a:srgbClr val="5F6C7D"/>
                </a:solidFill>
                <a:latin typeface="Aptos"/>
              </a:rPr>
              <a:t>Signals worth investigating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Count postings by category and week or month.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Compare recent category volume with an earlier baseline period.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Look for sustained growth over several periods, not a single unusual spike.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Check sample size and possible data-collection changes before calling a category 'emerging'.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Final finding to insert: categories showing the strongest measured growth in your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2700" b="1">
                <a:solidFill>
                  <a:srgbClr val="182A4B"/>
                </a:solidFill>
                <a:latin typeface="Aptos"/>
              </a:rPr>
              <a:t>10.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100" b="0">
                <a:solidFill>
                  <a:srgbClr val="5F6C7D"/>
                </a:solidFill>
                <a:latin typeface="Aptos"/>
              </a:rPr>
              <a:t>An explainable baseline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Target: number of job postings per week, either overall or for a selected category.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Baseline: use the previous week's count as the prediction for the next week.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Evaluate with a time-based split so later weeks are not used to predict earlier weeks.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MAE is the average absolute prediction error; RMSE penalizes large errors more heavily.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Insert the actual MAE, RMSE and evaluation dates from your notebook or dashboard.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2700" b="1">
                <a:solidFill>
                  <a:srgbClr val="182A4B"/>
                </a:solidFill>
                <a:latin typeface="Aptos"/>
              </a:rPr>
              <a:t>11. Country, Monthly and Remote-Work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100" b="0">
                <a:solidFill>
                  <a:srgbClr val="5F6C7D"/>
                </a:solidFill>
                <a:latin typeface="Aptos"/>
              </a:rPr>
              <a:t>What the dataset can and cannot tell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Country: rank available country values by posting count and keep unknown values visible.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Monthly: aggregate posting dates by month; note that the first and last months may be partial.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Remote work: analyze it only if the dataset contains a reliable remote-work field.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Country metadata may describe the client or listing rather than the freelancer's required location.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Posting counts represent this dataset and date window—not the whole global freelance market.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2700" b="1">
                <a:solidFill>
                  <a:srgbClr val="182A4B"/>
                </a:solidFill>
                <a:latin typeface="Aptos"/>
              </a:rPr>
              <a:t>12. Skill-Based Job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100" b="0">
                <a:solidFill>
                  <a:srgbClr val="5F6C7D"/>
                </a:solidFill>
                <a:latin typeface="Aptos"/>
              </a:rPr>
              <a:t>TF-IDF + cosine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User enters a short query, for example: 'Python data dashboard'.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TF-IDF converts words in titles/listings into weighted numeric vectors.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Cosine similarity measures how closely each listing's text matches the query.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The app returns the top matching job titles or listings.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Strength: fast and explainable. Limitation: similar wording does not guarantee quality, fit, budget or seniority.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2700" b="1">
                <a:solidFill>
                  <a:srgbClr val="182A4B"/>
                </a:solidFill>
                <a:latin typeface="Aptos"/>
              </a:rPr>
              <a:t>13. Streamlit Dashboard and Render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100" b="0">
                <a:solidFill>
                  <a:srgbClr val="5F6C7D"/>
                </a:solidFill>
                <a:latin typeface="Aptos"/>
              </a:rPr>
              <a:t>From Python analysis to a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Streamlit creates a browser-based interface from Python code in app.py.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Keep requirements.txt updated with the libraries used by the app.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Push app.py, requirements.txt and required files to GitHub.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On Render, connect the repository, configure the build/start commands and deploy the service.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Check logs, relative file paths, dataset permissions, secrets and the live URL after deployment.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 For large CSVs, use a reliable hosted download or storage service rather than committing oversized files to Git.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1BB4EB1-A096-12CF-B455-49DBBBABA8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8571" y="1131506"/>
            <a:ext cx="9788555" cy="465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27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BA07C2-48FE-ED7C-B56E-40DE34044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170" y="832103"/>
            <a:ext cx="9797143" cy="480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32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2700" b="1">
                <a:solidFill>
                  <a:srgbClr val="182A4B"/>
                </a:solidFill>
                <a:latin typeface="Aptos"/>
              </a:rPr>
              <a:t>15. Conclusion, 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100" b="0">
                <a:solidFill>
                  <a:srgbClr val="5F6C7D"/>
                </a:solidFill>
                <a:latin typeface="Aptos"/>
              </a:rPr>
              <a:t>Summary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Conclusion: a repeatable pipeline turns raw listings into market summaries and interactive exploration.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Limitations: short time window, missing/inconsistent fields, possible sampling bias and simple keyword categories.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Forecasting results depend on the limited history and should not be treated as a guarantee of future demand.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Future work: add more months of data, improve skill extraction, compare stronger forecasting models and evaluate recommendations.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Continue improving data-quality checks, app monitoring and deployment reliability.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3035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2700" b="1">
                <a:solidFill>
                  <a:srgbClr val="182A4B"/>
                </a:solidFill>
                <a:latin typeface="Aptos"/>
              </a:rPr>
              <a:t>Appendix: Dockerfile Explained Simply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100" b="0" dirty="0">
                <a:solidFill>
                  <a:srgbClr val="5F6C7D"/>
                </a:solidFill>
                <a:latin typeface="Aptos"/>
              </a:rPr>
              <a:t>Docker is optional for a standard Render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900" b="0">
                <a:solidFill>
                  <a:srgbClr val="5F6C7D"/>
                </a:solidFill>
                <a:latin typeface="Aptos"/>
              </a:rPr>
              <a:t>Job Market Analysis |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r"/>
            <a:r>
              <a:rPr sz="900" b="0">
                <a:solidFill>
                  <a:srgbClr val="5F6C7D"/>
                </a:solidFill>
                <a:latin typeface="Aptos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25880"/>
          <a:ext cx="10789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Dockerfile instruction</a:t>
                      </a:r>
                    </a:p>
                  </a:txBody>
                  <a:tcPr>
                    <a:solidFill>
                      <a:srgbClr val="182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Simple meaning</a:t>
                      </a:r>
                    </a:p>
                  </a:txBody>
                  <a:tcPr>
                    <a:solidFill>
                      <a:srgbClr val="182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FROM python:3.11-slim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Choose a lightweight Python environment.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WORKDIR /app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Set the working folder inside the container.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COPY requirements.txt .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Copy the dependency list into the container.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RUN pip install -r requirements.txt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Install the libraries the app needs.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COPY . .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Copy project files into the container build.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EXPOSE 8501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Document Streamlit's usual container 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CMD [...]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8303C"/>
                          </a:solidFill>
                        </a:rPr>
                        <a:t>Tell Docker how to start Streamlit and app.py.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925312"/>
            <a:ext cx="1042416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r>
              <a:rPr sz="1300" b="1">
                <a:solidFill>
                  <a:srgbClr val="19918C"/>
                </a:solidFill>
                <a:latin typeface="Aptos"/>
              </a:rPr>
              <a:t>Analogy: Dockerfile = recipe; image = packaged recipe; container = running application.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6522-6F6C-5F27-4617-7EFD4558F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9686" y="2286000"/>
            <a:ext cx="8229600" cy="11430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3540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1473</Words>
  <Application>Microsoft Office PowerPoint</Application>
  <PresentationFormat>Widescreen</PresentationFormat>
  <Paragraphs>147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Presented by Rupa Shetty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Analysis Project</dc:title>
  <dc:subject>Upwork job postings, EDA, forecasting, recommendation and deployment</dc:subject>
  <dc:creator>OpenAI</dc:creator>
  <cp:keywords/>
  <dc:description>generated using python-pptx</dc:description>
  <cp:lastModifiedBy>Vishal Shetty, Rupa</cp:lastModifiedBy>
  <cp:revision>2</cp:revision>
  <dcterms:created xsi:type="dcterms:W3CDTF">2013-01-27T09:14:16Z</dcterms:created>
  <dcterms:modified xsi:type="dcterms:W3CDTF">2026-10-15T06:20:28Z</dcterms:modified>
  <cp:category/>
</cp:coreProperties>
</file>